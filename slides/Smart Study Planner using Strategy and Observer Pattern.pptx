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nva Sans" panose="020B0604020202020204" charset="0"/>
      <p:regular r:id="rId9"/>
    </p:embeddedFont>
    <p:embeddedFont>
      <p:font typeface="Canva Sans Bold" panose="020B0604020202020204" charset="0"/>
      <p:regular r:id="rId10"/>
    </p:embeddedFont>
    <p:embeddedFont>
      <p:font typeface="Garet" panose="020B0604020202020204" charset="0"/>
      <p:regular r:id="rId11"/>
    </p:embeddedFont>
    <p:embeddedFont>
      <p:font typeface="Garet Bold" panose="020B0604020202020204" charset="0"/>
      <p:regular r:id="rId12"/>
    </p:embeddedFont>
    <p:embeddedFont>
      <p:font typeface="Garet Italics" panose="020B0604020202020204" charset="0"/>
      <p:regular r:id="rId13"/>
    </p:embeddedFont>
    <p:embeddedFont>
      <p:font typeface="Garet Ultra-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79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1788571" y="3879874"/>
            <a:ext cx="8195697" cy="2561155"/>
          </a:xfrm>
          <a:custGeom>
            <a:avLst/>
            <a:gdLst/>
            <a:ahLst/>
            <a:cxnLst/>
            <a:rect l="l" t="t" r="r" b="b"/>
            <a:pathLst>
              <a:path w="8195697" h="2561155">
                <a:moveTo>
                  <a:pt x="0" y="0"/>
                </a:moveTo>
                <a:lnTo>
                  <a:pt x="8195697" y="0"/>
                </a:lnTo>
                <a:lnTo>
                  <a:pt x="8195697" y="2561155"/>
                </a:lnTo>
                <a:lnTo>
                  <a:pt x="0" y="2561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123257" y="1143000"/>
            <a:ext cx="12638563" cy="1583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00"/>
              </a:lnSpc>
            </a:pPr>
            <a:r>
              <a:rPr lang="en-US" sz="6100" spc="-244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Smart Study Planner using Strategy and Observer Pattern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34689" y="9041103"/>
            <a:ext cx="6289046" cy="396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Debjit Dey : 2nd Year : IOTCSBT : Roll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23257" y="9132543"/>
            <a:ext cx="2644383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 dirty="0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Presented by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23257" y="3459218"/>
            <a:ext cx="10741047" cy="2693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94"/>
              </a:lnSpc>
            </a:pPr>
            <a:r>
              <a:rPr lang="en-US" sz="3067" b="1">
                <a:solidFill>
                  <a:srgbClr val="22222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 :</a:t>
            </a:r>
          </a:p>
          <a:p>
            <a:pPr algn="just">
              <a:lnSpc>
                <a:spcPts val="4294"/>
              </a:lnSpc>
            </a:pPr>
            <a:r>
              <a:rPr lang="en-US" sz="3067">
                <a:solidFill>
                  <a:srgbClr val="222222"/>
                </a:solidFill>
                <a:latin typeface="Canva Sans"/>
                <a:ea typeface="Canva Sans"/>
                <a:cs typeface="Canva Sans"/>
                <a:sym typeface="Canva Sans"/>
              </a:rPr>
              <a:t>Students often struggle to manage multiple academic tasks due to poor prioritization and lack of structured scheduling.</a:t>
            </a:r>
          </a:p>
          <a:p>
            <a:pPr algn="just">
              <a:lnSpc>
                <a:spcPts val="4294"/>
              </a:lnSpc>
            </a:pPr>
            <a:endParaRPr lang="en-US" sz="3067">
              <a:solidFill>
                <a:srgbClr val="22222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123257" y="5875572"/>
            <a:ext cx="10741047" cy="2151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94"/>
              </a:lnSpc>
            </a:pPr>
            <a:r>
              <a:rPr lang="en-US" sz="3067" b="1">
                <a:solidFill>
                  <a:srgbClr val="22222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Target User :</a:t>
            </a:r>
          </a:p>
          <a:p>
            <a:pPr algn="just">
              <a:lnSpc>
                <a:spcPts val="4294"/>
              </a:lnSpc>
            </a:pPr>
            <a:r>
              <a:rPr lang="en-US" sz="3067">
                <a:solidFill>
                  <a:srgbClr val="222222"/>
                </a:solidFill>
                <a:latin typeface="Canva Sans"/>
                <a:ea typeface="Canva Sans"/>
                <a:cs typeface="Canva Sans"/>
                <a:sym typeface="Canva Sans"/>
              </a:rPr>
              <a:t>Students who want an efficient way to organize tasks based on deadlines, difficulty, and study time.</a:t>
            </a:r>
          </a:p>
          <a:p>
            <a:pPr algn="just">
              <a:lnSpc>
                <a:spcPts val="4294"/>
              </a:lnSpc>
            </a:pPr>
            <a:endParaRPr lang="en-US" sz="3067">
              <a:solidFill>
                <a:srgbClr val="22222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6553" y="613437"/>
            <a:ext cx="10103378" cy="96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200"/>
              </a:lnSpc>
            </a:pPr>
            <a:r>
              <a:rPr lang="en-US" sz="7200" spc="-288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System Design</a:t>
            </a:r>
          </a:p>
        </p:txBody>
      </p:sp>
      <p:sp>
        <p:nvSpPr>
          <p:cNvPr id="3" name="Freeform 3"/>
          <p:cNvSpPr/>
          <p:nvPr/>
        </p:nvSpPr>
        <p:spPr>
          <a:xfrm rot="-10800000">
            <a:off x="9144000" y="716484"/>
            <a:ext cx="1998184" cy="624432"/>
          </a:xfrm>
          <a:custGeom>
            <a:avLst/>
            <a:gdLst/>
            <a:ahLst/>
            <a:cxnLst/>
            <a:rect l="l" t="t" r="r" b="b"/>
            <a:pathLst>
              <a:path w="1998184" h="624432">
                <a:moveTo>
                  <a:pt x="0" y="0"/>
                </a:moveTo>
                <a:lnTo>
                  <a:pt x="1998184" y="0"/>
                </a:lnTo>
                <a:lnTo>
                  <a:pt x="1998184" y="624432"/>
                </a:lnTo>
                <a:lnTo>
                  <a:pt x="0" y="624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290358" y="3351469"/>
            <a:ext cx="3758071" cy="5823277"/>
            <a:chOff x="0" y="0"/>
            <a:chExt cx="5010761" cy="776436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5010761" cy="1196750"/>
              <a:chOff x="0" y="0"/>
              <a:chExt cx="1241694" cy="29656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241694" cy="296561"/>
              </a:xfrm>
              <a:custGeom>
                <a:avLst/>
                <a:gdLst/>
                <a:ahLst/>
                <a:cxnLst/>
                <a:rect l="l" t="t" r="r" b="b"/>
                <a:pathLst>
                  <a:path w="1241694" h="296561">
                    <a:moveTo>
                      <a:pt x="1038494" y="0"/>
                    </a:moveTo>
                    <a:cubicBezTo>
                      <a:pt x="1150719" y="0"/>
                      <a:pt x="1241694" y="66387"/>
                      <a:pt x="1241694" y="148281"/>
                    </a:cubicBezTo>
                    <a:cubicBezTo>
                      <a:pt x="1241694" y="230174"/>
                      <a:pt x="1150719" y="296561"/>
                      <a:pt x="1038494" y="296561"/>
                    </a:cubicBezTo>
                    <a:lnTo>
                      <a:pt x="203200" y="296561"/>
                    </a:lnTo>
                    <a:cubicBezTo>
                      <a:pt x="90976" y="296561"/>
                      <a:pt x="0" y="230174"/>
                      <a:pt x="0" y="148281"/>
                    </a:cubicBezTo>
                    <a:cubicBezTo>
                      <a:pt x="0" y="66387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1241694" cy="3441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r>
                  <a:rPr lang="en-US" sz="2099" b="1" spc="-73">
                    <a:solidFill>
                      <a:srgbClr val="FFFFFF"/>
                    </a:solidFill>
                    <a:latin typeface="Garet Ultra-Bold"/>
                    <a:ea typeface="Garet Ultra-Bold"/>
                    <a:cs typeface="Garet Ultra-Bold"/>
                    <a:sym typeface="Garet Ultra-Bold"/>
                  </a:rPr>
                  <a:t>Console UI</a:t>
                </a:r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0" y="1643871"/>
              <a:ext cx="5010761" cy="1196750"/>
              <a:chOff x="0" y="0"/>
              <a:chExt cx="1241694" cy="29656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241694" cy="296561"/>
              </a:xfrm>
              <a:custGeom>
                <a:avLst/>
                <a:gdLst/>
                <a:ahLst/>
                <a:cxnLst/>
                <a:rect l="l" t="t" r="r" b="b"/>
                <a:pathLst>
                  <a:path w="1241694" h="296561">
                    <a:moveTo>
                      <a:pt x="1038494" y="0"/>
                    </a:moveTo>
                    <a:cubicBezTo>
                      <a:pt x="1150719" y="0"/>
                      <a:pt x="1241694" y="66387"/>
                      <a:pt x="1241694" y="148281"/>
                    </a:cubicBezTo>
                    <a:cubicBezTo>
                      <a:pt x="1241694" y="230174"/>
                      <a:pt x="1150719" y="296561"/>
                      <a:pt x="1038494" y="296561"/>
                    </a:cubicBezTo>
                    <a:lnTo>
                      <a:pt x="203200" y="296561"/>
                    </a:lnTo>
                    <a:cubicBezTo>
                      <a:pt x="90976" y="296561"/>
                      <a:pt x="0" y="230174"/>
                      <a:pt x="0" y="148281"/>
                    </a:cubicBezTo>
                    <a:cubicBezTo>
                      <a:pt x="0" y="66387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241694" cy="3441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r>
                  <a:rPr lang="en-US" sz="2099" b="1" spc="-73">
                    <a:solidFill>
                      <a:srgbClr val="FFFFFF"/>
                    </a:solidFill>
                    <a:latin typeface="Garet Ultra-Bold"/>
                    <a:ea typeface="Garet Ultra-Bold"/>
                    <a:cs typeface="Garet Ultra-Bold"/>
                    <a:sym typeface="Garet Ultra-Bold"/>
                  </a:rPr>
                  <a:t>Planner  Service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3285121"/>
              <a:ext cx="5010761" cy="1196750"/>
              <a:chOff x="0" y="0"/>
              <a:chExt cx="1241694" cy="29656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241694" cy="296561"/>
              </a:xfrm>
              <a:custGeom>
                <a:avLst/>
                <a:gdLst/>
                <a:ahLst/>
                <a:cxnLst/>
                <a:rect l="l" t="t" r="r" b="b"/>
                <a:pathLst>
                  <a:path w="1241694" h="296561">
                    <a:moveTo>
                      <a:pt x="1038494" y="0"/>
                    </a:moveTo>
                    <a:cubicBezTo>
                      <a:pt x="1150719" y="0"/>
                      <a:pt x="1241694" y="66387"/>
                      <a:pt x="1241694" y="148281"/>
                    </a:cubicBezTo>
                    <a:cubicBezTo>
                      <a:pt x="1241694" y="230174"/>
                      <a:pt x="1150719" y="296561"/>
                      <a:pt x="1038494" y="296561"/>
                    </a:cubicBezTo>
                    <a:lnTo>
                      <a:pt x="203200" y="296561"/>
                    </a:lnTo>
                    <a:cubicBezTo>
                      <a:pt x="90976" y="296561"/>
                      <a:pt x="0" y="230174"/>
                      <a:pt x="0" y="148281"/>
                    </a:cubicBezTo>
                    <a:cubicBezTo>
                      <a:pt x="0" y="66387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241694" cy="3441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r>
                  <a:rPr lang="en-US" sz="2099" b="1" spc="-73">
                    <a:solidFill>
                      <a:srgbClr val="FFFFFF"/>
                    </a:solidFill>
                    <a:latin typeface="Garet Ultra-Bold"/>
                    <a:ea typeface="Garet Ultra-Bold"/>
                    <a:cs typeface="Garet Ultra-Bold"/>
                    <a:sym typeface="Garet Ultra-Bold"/>
                  </a:rPr>
                  <a:t>Schedule Strategy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4926370"/>
              <a:ext cx="5010761" cy="1196750"/>
              <a:chOff x="0" y="0"/>
              <a:chExt cx="1241694" cy="29656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241694" cy="296561"/>
              </a:xfrm>
              <a:custGeom>
                <a:avLst/>
                <a:gdLst/>
                <a:ahLst/>
                <a:cxnLst/>
                <a:rect l="l" t="t" r="r" b="b"/>
                <a:pathLst>
                  <a:path w="1241694" h="296561">
                    <a:moveTo>
                      <a:pt x="1038494" y="0"/>
                    </a:moveTo>
                    <a:cubicBezTo>
                      <a:pt x="1150719" y="0"/>
                      <a:pt x="1241694" y="66387"/>
                      <a:pt x="1241694" y="148281"/>
                    </a:cubicBezTo>
                    <a:cubicBezTo>
                      <a:pt x="1241694" y="230174"/>
                      <a:pt x="1150719" y="296561"/>
                      <a:pt x="1038494" y="296561"/>
                    </a:cubicBezTo>
                    <a:lnTo>
                      <a:pt x="203200" y="296561"/>
                    </a:lnTo>
                    <a:cubicBezTo>
                      <a:pt x="90976" y="296561"/>
                      <a:pt x="0" y="230174"/>
                      <a:pt x="0" y="148281"/>
                    </a:cubicBezTo>
                    <a:cubicBezTo>
                      <a:pt x="0" y="66387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1241694" cy="3441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r>
                  <a:rPr lang="en-US" sz="2099" b="1" spc="-73">
                    <a:solidFill>
                      <a:srgbClr val="FFFFFF"/>
                    </a:solidFill>
                    <a:latin typeface="Garet Ultra-Bold"/>
                    <a:ea typeface="Garet Ultra-Bold"/>
                    <a:cs typeface="Garet Ultra-Bold"/>
                    <a:sym typeface="Garet Ultra-Bold"/>
                  </a:rPr>
                  <a:t>Task Model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0" y="6567620"/>
              <a:ext cx="5010761" cy="1196750"/>
              <a:chOff x="0" y="0"/>
              <a:chExt cx="1241694" cy="29656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241694" cy="296561"/>
              </a:xfrm>
              <a:custGeom>
                <a:avLst/>
                <a:gdLst/>
                <a:ahLst/>
                <a:cxnLst/>
                <a:rect l="l" t="t" r="r" b="b"/>
                <a:pathLst>
                  <a:path w="1241694" h="296561">
                    <a:moveTo>
                      <a:pt x="1038494" y="0"/>
                    </a:moveTo>
                    <a:cubicBezTo>
                      <a:pt x="1150719" y="0"/>
                      <a:pt x="1241694" y="66387"/>
                      <a:pt x="1241694" y="148281"/>
                    </a:cubicBezTo>
                    <a:cubicBezTo>
                      <a:pt x="1241694" y="230174"/>
                      <a:pt x="1150719" y="296561"/>
                      <a:pt x="1038494" y="296561"/>
                    </a:cubicBezTo>
                    <a:lnTo>
                      <a:pt x="203200" y="296561"/>
                    </a:lnTo>
                    <a:cubicBezTo>
                      <a:pt x="90976" y="296561"/>
                      <a:pt x="0" y="230174"/>
                      <a:pt x="0" y="148281"/>
                    </a:cubicBezTo>
                    <a:cubicBezTo>
                      <a:pt x="0" y="66387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1241694" cy="3441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r>
                  <a:rPr lang="en-US" sz="2099" b="1" spc="-73">
                    <a:solidFill>
                      <a:srgbClr val="FFFFFF"/>
                    </a:solidFill>
                    <a:latin typeface="Garet Ultra-Bold"/>
                    <a:ea typeface="Garet Ultra-Bold"/>
                    <a:cs typeface="Garet Ultra-Bold"/>
                    <a:sym typeface="Garet Ultra-Bold"/>
                  </a:rPr>
                  <a:t>Repository</a:t>
                </a:r>
              </a:p>
            </p:txBody>
          </p:sp>
        </p:grpSp>
        <p:sp>
          <p:nvSpPr>
            <p:cNvPr id="20" name="AutoShape 20"/>
            <p:cNvSpPr/>
            <p:nvPr/>
          </p:nvSpPr>
          <p:spPr>
            <a:xfrm>
              <a:off x="2530781" y="995000"/>
              <a:ext cx="0" cy="64887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1" name="AutoShape 21"/>
            <p:cNvSpPr/>
            <p:nvPr/>
          </p:nvSpPr>
          <p:spPr>
            <a:xfrm>
              <a:off x="2505381" y="2636250"/>
              <a:ext cx="0" cy="64887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2479981" y="4277499"/>
              <a:ext cx="0" cy="64887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2454581" y="5918749"/>
              <a:ext cx="0" cy="64887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-199811" y="2091544"/>
            <a:ext cx="6738409" cy="366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799" b="1" spc="-111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Architecture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18242" y="2808722"/>
            <a:ext cx="11017610" cy="2966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 spc="-73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Task </a:t>
            </a:r>
            <a:r>
              <a:rPr lang="en-US" sz="2099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→ base class for all tasks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 spc="-73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AssignmentTask</a:t>
            </a:r>
            <a:r>
              <a:rPr lang="en-US" sz="2099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2099" b="1" spc="-73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ExamTask</a:t>
            </a:r>
            <a:r>
              <a:rPr lang="en-US" sz="2099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2099" b="1" spc="-73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ReadingTask </a:t>
            </a:r>
            <a:r>
              <a:rPr lang="en-US" sz="2099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→ specific task types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 spc="-73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SchedulerStrategy </a:t>
            </a:r>
            <a:r>
              <a:rPr lang="en-US" sz="2099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→ defines scheduling method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 spc="-73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DeadlineStrategy</a:t>
            </a:r>
            <a:r>
              <a:rPr lang="en-US" sz="2099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2099" b="1" spc="-73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DifficultyStrategy</a:t>
            </a:r>
            <a:r>
              <a:rPr lang="en-US" sz="2099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2099" b="1" spc="-73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BalancedStrategy </a:t>
            </a:r>
            <a:r>
              <a:rPr lang="en-US" sz="2099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→ different scheduling logics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 spc="-73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PlannerService </a:t>
            </a:r>
            <a:r>
              <a:rPr lang="en-US" sz="2099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→ manages tasks and applies strategies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 spc="-73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ReminderService </a:t>
            </a:r>
            <a:r>
              <a:rPr lang="en-US" sz="2099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→ checks deadlines and alerts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 spc="-73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TaskRepository </a:t>
            </a:r>
            <a:r>
              <a:rPr lang="en-US" sz="2099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→ handles saving and loading data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 spc="-73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ConsoleUI </a:t>
            </a:r>
            <a:r>
              <a:rPr lang="en-US" sz="2099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→ manages user interaction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218242" y="2062194"/>
            <a:ext cx="6738409" cy="366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799" b="1" spc="-111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Key classes and Responsibilities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218242" y="6232440"/>
            <a:ext cx="6738409" cy="366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799" b="1" spc="-111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Package Structure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218242" y="6951287"/>
            <a:ext cx="4010241" cy="2223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 spc="-73">
                <a:solidFill>
                  <a:srgbClr val="222222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model </a:t>
            </a:r>
            <a:r>
              <a:rPr lang="en-US" sz="2099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→ task classes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 spc="-73">
                <a:solidFill>
                  <a:srgbClr val="222222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strategy </a:t>
            </a:r>
            <a:r>
              <a:rPr lang="en-US" sz="2099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→ scheduling logic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 spc="-73">
                <a:solidFill>
                  <a:srgbClr val="222222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service </a:t>
            </a:r>
            <a:r>
              <a:rPr lang="en-US" sz="2099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→ core operations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 spc="-73">
                <a:solidFill>
                  <a:srgbClr val="222222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repository </a:t>
            </a:r>
            <a:r>
              <a:rPr lang="en-US" sz="2099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→ file handling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 spc="-73">
                <a:solidFill>
                  <a:srgbClr val="222222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ui </a:t>
            </a:r>
            <a:r>
              <a:rPr lang="en-US" sz="2099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→ user interface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 spc="-73">
                <a:solidFill>
                  <a:srgbClr val="222222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exception </a:t>
            </a:r>
            <a:r>
              <a:rPr lang="en-US" sz="2099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→ custom exception</a:t>
            </a:r>
          </a:p>
        </p:txBody>
      </p:sp>
    </p:spTree>
  </p:cSld>
  <p:clrMapOvr>
    <a:masterClrMapping/>
  </p:clrMapOvr>
  <p:transition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79677" y="1715576"/>
            <a:ext cx="1998184" cy="624432"/>
          </a:xfrm>
          <a:custGeom>
            <a:avLst/>
            <a:gdLst/>
            <a:ahLst/>
            <a:cxnLst/>
            <a:rect l="l" t="t" r="r" b="b"/>
            <a:pathLst>
              <a:path w="1998184" h="624432">
                <a:moveTo>
                  <a:pt x="0" y="0"/>
                </a:moveTo>
                <a:lnTo>
                  <a:pt x="1998184" y="0"/>
                </a:lnTo>
                <a:lnTo>
                  <a:pt x="1998184" y="624432"/>
                </a:lnTo>
                <a:lnTo>
                  <a:pt x="0" y="624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479677" y="4243510"/>
            <a:ext cx="1998184" cy="624432"/>
          </a:xfrm>
          <a:custGeom>
            <a:avLst/>
            <a:gdLst/>
            <a:ahLst/>
            <a:cxnLst/>
            <a:rect l="l" t="t" r="r" b="b"/>
            <a:pathLst>
              <a:path w="1998184" h="624432">
                <a:moveTo>
                  <a:pt x="0" y="0"/>
                </a:moveTo>
                <a:lnTo>
                  <a:pt x="1998184" y="0"/>
                </a:lnTo>
                <a:lnTo>
                  <a:pt x="1998184" y="624433"/>
                </a:lnTo>
                <a:lnTo>
                  <a:pt x="0" y="6244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479677" y="6775094"/>
            <a:ext cx="1998184" cy="624432"/>
          </a:xfrm>
          <a:custGeom>
            <a:avLst/>
            <a:gdLst/>
            <a:ahLst/>
            <a:cxnLst/>
            <a:rect l="l" t="t" r="r" b="b"/>
            <a:pathLst>
              <a:path w="1998184" h="624432">
                <a:moveTo>
                  <a:pt x="0" y="0"/>
                </a:moveTo>
                <a:lnTo>
                  <a:pt x="1998184" y="0"/>
                </a:lnTo>
                <a:lnTo>
                  <a:pt x="1998184" y="624433"/>
                </a:lnTo>
                <a:lnTo>
                  <a:pt x="0" y="6244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540161" y="1066800"/>
            <a:ext cx="4950835" cy="8858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SmartStudyPlanner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├───data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│       tasks.txt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│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└───src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└───planner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│   Main.java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│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├───exception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│       InvalidTaskException.java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│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├───model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│       AssignmentTask.java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│       ExamTask.java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│       ReadingTask.java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│       Task.java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│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├───repository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│       TaskRepository.java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│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├───service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│       PlannerService.java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│       ReminderService.java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│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├───strategy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│       BalancedStrategy.java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│       DeadlineStrategy.java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│       DifficultyStrategy.java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│       SchedulerStrategy.java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│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└───ui</a:t>
            </a:r>
          </a:p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sz="2200" spc="-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        ConsoleUI.java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84622" y="4033701"/>
            <a:ext cx="10103378" cy="1878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200"/>
              </a:lnSpc>
            </a:pPr>
            <a:r>
              <a:rPr lang="en-US" sz="7200" spc="-288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File </a:t>
            </a:r>
          </a:p>
          <a:p>
            <a:pPr algn="r">
              <a:lnSpc>
                <a:spcPts val="7200"/>
              </a:lnSpc>
            </a:pPr>
            <a:r>
              <a:rPr lang="en-US" sz="7200" spc="-288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Structure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989351" y="43698"/>
            <a:ext cx="6298649" cy="279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200"/>
              </a:lnSpc>
            </a:pPr>
            <a:r>
              <a:rPr lang="en-US" sz="7200" spc="-288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OOP Concepts Used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91652" y="504889"/>
            <a:ext cx="7656637" cy="188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5"/>
              </a:lnSpc>
            </a:pPr>
            <a:r>
              <a:rPr lang="en-US" sz="2086" b="1" spc="89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Abstraction</a:t>
            </a:r>
          </a:p>
          <a:p>
            <a:pPr algn="l">
              <a:lnSpc>
                <a:spcPts val="3025"/>
              </a:lnSpc>
            </a:pPr>
            <a:endParaRPr lang="en-US" sz="2086" b="1" spc="89">
              <a:solidFill>
                <a:srgbClr val="222222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450543" lvl="1" indent="-225271" algn="l">
              <a:lnSpc>
                <a:spcPts val="3025"/>
              </a:lnSpc>
              <a:buFont typeface="Arial"/>
              <a:buChar char="•"/>
            </a:pPr>
            <a:r>
              <a:rPr lang="en-US" sz="2086" i="1" spc="89">
                <a:solidFill>
                  <a:srgbClr val="222222"/>
                </a:solidFill>
                <a:latin typeface="Garet Italics"/>
                <a:ea typeface="Garet Italics"/>
                <a:cs typeface="Garet Italics"/>
                <a:sym typeface="Garet Italics"/>
              </a:rPr>
              <a:t>Task</a:t>
            </a:r>
            <a:r>
              <a:rPr lang="en-US" sz="2086" spc="89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 is an abstract class defining common properties and behavior for all tasks</a:t>
            </a:r>
          </a:p>
          <a:p>
            <a:pPr algn="l">
              <a:lnSpc>
                <a:spcPts val="3025"/>
              </a:lnSpc>
            </a:pPr>
            <a:endParaRPr lang="en-US" sz="2086" spc="89">
              <a:solidFill>
                <a:srgbClr val="22222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991652" y="2914826"/>
            <a:ext cx="7656637" cy="188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5"/>
              </a:lnSpc>
            </a:pPr>
            <a:r>
              <a:rPr lang="en-US" sz="2086" b="1" spc="89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Inheritance</a:t>
            </a:r>
          </a:p>
          <a:p>
            <a:pPr algn="l">
              <a:lnSpc>
                <a:spcPts val="3025"/>
              </a:lnSpc>
            </a:pPr>
            <a:endParaRPr lang="en-US" sz="2086" b="1" spc="89">
              <a:solidFill>
                <a:srgbClr val="222222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450543" lvl="1" indent="-225271" algn="l">
              <a:lnSpc>
                <a:spcPts val="3025"/>
              </a:lnSpc>
              <a:buFont typeface="Arial"/>
              <a:buChar char="•"/>
            </a:pPr>
            <a:r>
              <a:rPr lang="en-US" sz="2086" i="1" spc="89">
                <a:solidFill>
                  <a:srgbClr val="222222"/>
                </a:solidFill>
                <a:latin typeface="Garet Italics"/>
                <a:ea typeface="Garet Italics"/>
                <a:cs typeface="Garet Italics"/>
                <a:sym typeface="Garet Italics"/>
              </a:rPr>
              <a:t>AssignmentTask</a:t>
            </a:r>
            <a:r>
              <a:rPr lang="en-US" sz="2086" spc="89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2086" i="1" spc="89">
                <a:solidFill>
                  <a:srgbClr val="222222"/>
                </a:solidFill>
                <a:latin typeface="Garet Italics"/>
                <a:ea typeface="Garet Italics"/>
                <a:cs typeface="Garet Italics"/>
                <a:sym typeface="Garet Italics"/>
              </a:rPr>
              <a:t>ExamTask</a:t>
            </a:r>
            <a:r>
              <a:rPr lang="en-US" sz="2086" spc="89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,</a:t>
            </a:r>
            <a:r>
              <a:rPr lang="en-US" sz="2086" i="1" spc="89">
                <a:solidFill>
                  <a:srgbClr val="222222"/>
                </a:solidFill>
                <a:latin typeface="Garet Italics"/>
                <a:ea typeface="Garet Italics"/>
                <a:cs typeface="Garet Italics"/>
                <a:sym typeface="Garet Italics"/>
              </a:rPr>
              <a:t> ReadingTask </a:t>
            </a:r>
            <a:r>
              <a:rPr lang="en-US" sz="2086" spc="89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extend Task</a:t>
            </a:r>
          </a:p>
          <a:p>
            <a:pPr marL="450543" lvl="1" indent="-225271" algn="l">
              <a:lnSpc>
                <a:spcPts val="3025"/>
              </a:lnSpc>
              <a:buFont typeface="Arial"/>
              <a:buChar char="•"/>
            </a:pPr>
            <a:r>
              <a:rPr lang="en-US" sz="2086" spc="89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Enables code reuse and specialization</a:t>
            </a:r>
          </a:p>
        </p:txBody>
      </p:sp>
      <p:sp>
        <p:nvSpPr>
          <p:cNvPr id="5" name="Freeform 5"/>
          <p:cNvSpPr/>
          <p:nvPr/>
        </p:nvSpPr>
        <p:spPr>
          <a:xfrm rot="5400000">
            <a:off x="-137158" y="1063052"/>
            <a:ext cx="1985635" cy="620511"/>
          </a:xfrm>
          <a:custGeom>
            <a:avLst/>
            <a:gdLst/>
            <a:ahLst/>
            <a:cxnLst/>
            <a:rect l="l" t="t" r="r" b="b"/>
            <a:pathLst>
              <a:path w="1985635" h="620511">
                <a:moveTo>
                  <a:pt x="0" y="0"/>
                </a:moveTo>
                <a:lnTo>
                  <a:pt x="1985635" y="0"/>
                </a:lnTo>
                <a:lnTo>
                  <a:pt x="1985635" y="620511"/>
                </a:lnTo>
                <a:lnTo>
                  <a:pt x="0" y="620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5400000">
            <a:off x="-137158" y="3575111"/>
            <a:ext cx="1985635" cy="620511"/>
          </a:xfrm>
          <a:custGeom>
            <a:avLst/>
            <a:gdLst/>
            <a:ahLst/>
            <a:cxnLst/>
            <a:rect l="l" t="t" r="r" b="b"/>
            <a:pathLst>
              <a:path w="1985635" h="620511">
                <a:moveTo>
                  <a:pt x="0" y="0"/>
                </a:moveTo>
                <a:lnTo>
                  <a:pt x="1985635" y="0"/>
                </a:lnTo>
                <a:lnTo>
                  <a:pt x="1985635" y="620510"/>
                </a:lnTo>
                <a:lnTo>
                  <a:pt x="0" y="620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-137158" y="6090796"/>
            <a:ext cx="1985635" cy="620511"/>
          </a:xfrm>
          <a:custGeom>
            <a:avLst/>
            <a:gdLst/>
            <a:ahLst/>
            <a:cxnLst/>
            <a:rect l="l" t="t" r="r" b="b"/>
            <a:pathLst>
              <a:path w="1985635" h="620511">
                <a:moveTo>
                  <a:pt x="0" y="0"/>
                </a:moveTo>
                <a:lnTo>
                  <a:pt x="1985635" y="0"/>
                </a:lnTo>
                <a:lnTo>
                  <a:pt x="1985635" y="620511"/>
                </a:lnTo>
                <a:lnTo>
                  <a:pt x="0" y="620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991652" y="5241207"/>
            <a:ext cx="7656637" cy="2262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5"/>
              </a:lnSpc>
            </a:pPr>
            <a:r>
              <a:rPr lang="en-US" sz="2086" b="1" spc="89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Polymorphism</a:t>
            </a:r>
          </a:p>
          <a:p>
            <a:pPr algn="l">
              <a:lnSpc>
                <a:spcPts val="3025"/>
              </a:lnSpc>
            </a:pPr>
            <a:endParaRPr lang="en-US" sz="2086" b="1" spc="89">
              <a:solidFill>
                <a:srgbClr val="222222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450543" lvl="1" indent="-225271" algn="l">
              <a:lnSpc>
                <a:spcPts val="3025"/>
              </a:lnSpc>
              <a:buFont typeface="Arial"/>
              <a:buChar char="•"/>
            </a:pPr>
            <a:r>
              <a:rPr lang="en-US" sz="2086" i="1" spc="89">
                <a:solidFill>
                  <a:srgbClr val="222222"/>
                </a:solidFill>
                <a:latin typeface="Garet Italics"/>
                <a:ea typeface="Garet Italics"/>
                <a:cs typeface="Garet Italics"/>
                <a:sym typeface="Garet Italics"/>
              </a:rPr>
              <a:t>SchedulerStrategy </a:t>
            </a:r>
            <a:r>
              <a:rPr lang="en-US" sz="2086" spc="89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interface allows different scheduling behaviors</a:t>
            </a:r>
          </a:p>
          <a:p>
            <a:pPr marL="450543" lvl="1" indent="-225271" algn="l">
              <a:lnSpc>
                <a:spcPts val="3025"/>
              </a:lnSpc>
              <a:buFont typeface="Arial"/>
              <a:buChar char="•"/>
            </a:pPr>
            <a:r>
              <a:rPr lang="en-US" sz="2086" spc="89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Strategy can be changed at runtime</a:t>
            </a:r>
          </a:p>
          <a:p>
            <a:pPr algn="l">
              <a:lnSpc>
                <a:spcPts val="3025"/>
              </a:lnSpc>
            </a:pPr>
            <a:endParaRPr lang="en-US" sz="2086" spc="89">
              <a:solidFill>
                <a:srgbClr val="22222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9" name="Freeform 9"/>
          <p:cNvSpPr/>
          <p:nvPr/>
        </p:nvSpPr>
        <p:spPr>
          <a:xfrm rot="5400000">
            <a:off x="-137158" y="8603437"/>
            <a:ext cx="1985635" cy="620511"/>
          </a:xfrm>
          <a:custGeom>
            <a:avLst/>
            <a:gdLst/>
            <a:ahLst/>
            <a:cxnLst/>
            <a:rect l="l" t="t" r="r" b="b"/>
            <a:pathLst>
              <a:path w="1985635" h="620511">
                <a:moveTo>
                  <a:pt x="0" y="0"/>
                </a:moveTo>
                <a:lnTo>
                  <a:pt x="1985635" y="0"/>
                </a:lnTo>
                <a:lnTo>
                  <a:pt x="1985635" y="620511"/>
                </a:lnTo>
                <a:lnTo>
                  <a:pt x="0" y="620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991652" y="8139642"/>
            <a:ext cx="7656637" cy="1490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5"/>
              </a:lnSpc>
            </a:pPr>
            <a:r>
              <a:rPr lang="en-US" sz="2086" b="1" spc="89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Encapsulation</a:t>
            </a:r>
          </a:p>
          <a:p>
            <a:pPr algn="l">
              <a:lnSpc>
                <a:spcPts val="3025"/>
              </a:lnSpc>
            </a:pPr>
            <a:endParaRPr lang="en-US" sz="2086" b="1" spc="89">
              <a:solidFill>
                <a:srgbClr val="222222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450542" lvl="1" indent="-225271" algn="l">
              <a:lnSpc>
                <a:spcPts val="3025"/>
              </a:lnSpc>
              <a:buFont typeface="Arial"/>
              <a:buChar char="•"/>
            </a:pPr>
            <a:r>
              <a:rPr lang="en-US" sz="2086" spc="89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Task data is private and accessed using getters and setters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02103" y="2914826"/>
            <a:ext cx="6885897" cy="1514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5"/>
              </a:lnSpc>
            </a:pPr>
            <a:r>
              <a:rPr lang="en-US" sz="2086" b="1" spc="89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Exception Handling</a:t>
            </a:r>
          </a:p>
          <a:p>
            <a:pPr algn="l">
              <a:lnSpc>
                <a:spcPts val="3025"/>
              </a:lnSpc>
            </a:pPr>
            <a:endParaRPr lang="en-US" sz="2086" b="1" spc="89">
              <a:solidFill>
                <a:srgbClr val="222222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450543" lvl="1" indent="-225272" algn="l">
              <a:lnSpc>
                <a:spcPts val="3025"/>
              </a:lnSpc>
              <a:buFont typeface="Arial"/>
              <a:buChar char="•"/>
            </a:pPr>
            <a:r>
              <a:rPr lang="en-US" sz="2086" spc="89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Custom exception for invalid input</a:t>
            </a:r>
          </a:p>
          <a:p>
            <a:pPr marL="450543" lvl="1" indent="-225272" algn="l">
              <a:lnSpc>
                <a:spcPts val="3025"/>
              </a:lnSpc>
              <a:buFont typeface="Arial"/>
              <a:buChar char="•"/>
            </a:pPr>
            <a:r>
              <a:rPr lang="en-US" sz="2086" spc="89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Try-catch used for handling runtime errors</a:t>
            </a:r>
          </a:p>
        </p:txBody>
      </p:sp>
      <p:sp>
        <p:nvSpPr>
          <p:cNvPr id="12" name="Freeform 12"/>
          <p:cNvSpPr/>
          <p:nvPr/>
        </p:nvSpPr>
        <p:spPr>
          <a:xfrm rot="5400000">
            <a:off x="9270355" y="3575111"/>
            <a:ext cx="1985635" cy="620511"/>
          </a:xfrm>
          <a:custGeom>
            <a:avLst/>
            <a:gdLst/>
            <a:ahLst/>
            <a:cxnLst/>
            <a:rect l="l" t="t" r="r" b="b"/>
            <a:pathLst>
              <a:path w="1985635" h="620511">
                <a:moveTo>
                  <a:pt x="0" y="0"/>
                </a:moveTo>
                <a:lnTo>
                  <a:pt x="1985635" y="0"/>
                </a:lnTo>
                <a:lnTo>
                  <a:pt x="1985635" y="620510"/>
                </a:lnTo>
                <a:lnTo>
                  <a:pt x="0" y="620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1402103" y="4853029"/>
            <a:ext cx="6885897" cy="303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5"/>
              </a:lnSpc>
            </a:pPr>
            <a:r>
              <a:rPr lang="en-US" sz="2086" b="1" spc="89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Design Pattern Used</a:t>
            </a:r>
          </a:p>
          <a:p>
            <a:pPr algn="l">
              <a:lnSpc>
                <a:spcPts val="3025"/>
              </a:lnSpc>
            </a:pPr>
            <a:endParaRPr lang="en-US" sz="2086" b="1" spc="89">
              <a:solidFill>
                <a:srgbClr val="222222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450543" lvl="1" indent="-225272" algn="l">
              <a:lnSpc>
                <a:spcPts val="3025"/>
              </a:lnSpc>
              <a:buFont typeface="Arial"/>
              <a:buChar char="•"/>
            </a:pPr>
            <a:r>
              <a:rPr lang="en-US" sz="2086" spc="89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Strategy PatternDifferent scheduling algorithms implemented separately</a:t>
            </a:r>
          </a:p>
          <a:p>
            <a:pPr marL="450543" lvl="1" indent="-225272" algn="l">
              <a:lnSpc>
                <a:spcPts val="3025"/>
              </a:lnSpc>
              <a:buFont typeface="Arial"/>
              <a:buChar char="•"/>
            </a:pPr>
            <a:r>
              <a:rPr lang="en-US" sz="2086" spc="89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Selected dynamically at runtime</a:t>
            </a:r>
          </a:p>
          <a:p>
            <a:pPr marL="450543" lvl="1" indent="-225272" algn="l">
              <a:lnSpc>
                <a:spcPts val="3025"/>
              </a:lnSpc>
              <a:buFont typeface="Arial"/>
              <a:buChar char="•"/>
            </a:pPr>
            <a:r>
              <a:rPr lang="en-US" sz="2086" spc="89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Observer Concept (Basic)Reminder system checks and notifies about deadlines</a:t>
            </a:r>
          </a:p>
          <a:p>
            <a:pPr algn="l">
              <a:lnSpc>
                <a:spcPts val="3025"/>
              </a:lnSpc>
            </a:pPr>
            <a:endParaRPr lang="en-US" sz="2086" spc="89">
              <a:solidFill>
                <a:srgbClr val="22222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4" name="Freeform 14"/>
          <p:cNvSpPr/>
          <p:nvPr/>
        </p:nvSpPr>
        <p:spPr>
          <a:xfrm rot="5400000">
            <a:off x="9270355" y="6090796"/>
            <a:ext cx="1985635" cy="620511"/>
          </a:xfrm>
          <a:custGeom>
            <a:avLst/>
            <a:gdLst/>
            <a:ahLst/>
            <a:cxnLst/>
            <a:rect l="l" t="t" r="r" b="b"/>
            <a:pathLst>
              <a:path w="1985635" h="620511">
                <a:moveTo>
                  <a:pt x="0" y="0"/>
                </a:moveTo>
                <a:lnTo>
                  <a:pt x="1985635" y="0"/>
                </a:lnTo>
                <a:lnTo>
                  <a:pt x="1985635" y="620511"/>
                </a:lnTo>
                <a:lnTo>
                  <a:pt x="0" y="620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62077"/>
            <a:ext cx="16230600" cy="96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spc="-288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Technical Highlights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760762" y="2357208"/>
            <a:ext cx="12498538" cy="445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The program uses Strategy Pattern to implement multiple types of scheduling techniques </a:t>
            </a:r>
          </a:p>
          <a:p>
            <a:pPr algn="l">
              <a:lnSpc>
                <a:spcPts val="2940"/>
              </a:lnSpc>
            </a:pPr>
            <a:r>
              <a:rPr lang="en-US" sz="2100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allowing the user to switch between different techniques in run time</a:t>
            </a:r>
          </a:p>
          <a:p>
            <a:pPr algn="l">
              <a:lnSpc>
                <a:spcPts val="2940"/>
              </a:lnSpc>
            </a:pPr>
            <a:r>
              <a:rPr lang="en-US" sz="2100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common interface defines a scheduling method:</a:t>
            </a:r>
          </a:p>
          <a:p>
            <a:pPr marL="453393" lvl="1" indent="-226697" algn="l">
              <a:lnSpc>
                <a:spcPts val="2940"/>
              </a:lnSpc>
              <a:buFont typeface="Arial"/>
              <a:buChar char="•"/>
            </a:pPr>
            <a:r>
              <a:rPr lang="en-US" sz="2100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schedule(List&lt;Task&gt;)</a:t>
            </a:r>
          </a:p>
          <a:p>
            <a:pPr algn="l">
              <a:lnSpc>
                <a:spcPts val="2940"/>
              </a:lnSpc>
            </a:pPr>
            <a:endParaRPr lang="en-US" sz="2100" spc="-73">
              <a:solidFill>
                <a:srgbClr val="222222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940"/>
              </a:lnSpc>
            </a:pPr>
            <a:r>
              <a:rPr lang="en-US" sz="2100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Multiple classes implement this interface</a:t>
            </a:r>
          </a:p>
          <a:p>
            <a:pPr marL="453393" lvl="1" indent="-226697" algn="l">
              <a:lnSpc>
                <a:spcPts val="2940"/>
              </a:lnSpc>
              <a:buFont typeface="Arial"/>
              <a:buChar char="•"/>
            </a:pPr>
            <a:r>
              <a:rPr lang="en-US" sz="2100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Deadline-based scheduling - sorts by nearest deadline</a:t>
            </a:r>
          </a:p>
          <a:p>
            <a:pPr marL="453393" lvl="1" indent="-226697" algn="l">
              <a:lnSpc>
                <a:spcPts val="2940"/>
              </a:lnSpc>
              <a:buFont typeface="Arial"/>
              <a:buChar char="•"/>
            </a:pPr>
            <a:r>
              <a:rPr lang="en-US" sz="2100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Difficulty-based scheduling - sorts by highest difficulty</a:t>
            </a:r>
          </a:p>
          <a:p>
            <a:pPr marL="453393" lvl="1" indent="-226697" algn="l">
              <a:lnSpc>
                <a:spcPts val="2940"/>
              </a:lnSpc>
              <a:buFont typeface="Arial"/>
              <a:buChar char="•"/>
            </a:pPr>
            <a:r>
              <a:rPr lang="en-US" sz="2100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Balanced scheduling - calculates a score using multiple factors</a:t>
            </a:r>
          </a:p>
          <a:p>
            <a:pPr algn="l">
              <a:lnSpc>
                <a:spcPts val="2940"/>
              </a:lnSpc>
            </a:pPr>
            <a:r>
              <a:rPr lang="en-US" sz="2100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The selected strategy is assigned at runtime:</a:t>
            </a:r>
          </a:p>
          <a:p>
            <a:pPr algn="l">
              <a:lnSpc>
                <a:spcPts val="2940"/>
              </a:lnSpc>
            </a:pPr>
            <a:r>
              <a:rPr lang="en-US" sz="2100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The service class calls the active strategy to schedule tasks</a:t>
            </a:r>
          </a:p>
          <a:p>
            <a:pPr algn="l">
              <a:lnSpc>
                <a:spcPts val="2940"/>
              </a:lnSpc>
            </a:pPr>
            <a:endParaRPr lang="en-US" sz="2100" spc="-73">
              <a:solidFill>
                <a:srgbClr val="222222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760762" y="7294872"/>
            <a:ext cx="12498538" cy="185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This approach was chosen because :</a:t>
            </a:r>
          </a:p>
          <a:p>
            <a:pPr marL="453393" lvl="1" indent="-226697" algn="l">
              <a:lnSpc>
                <a:spcPts val="2940"/>
              </a:lnSpc>
              <a:buFont typeface="Arial"/>
              <a:buChar char="•"/>
            </a:pPr>
            <a:r>
              <a:rPr lang="en-US" sz="2100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It avoids hardcoding a single scheduling logic</a:t>
            </a:r>
          </a:p>
          <a:p>
            <a:pPr marL="453393" lvl="1" indent="-226697" algn="l">
              <a:lnSpc>
                <a:spcPts val="2940"/>
              </a:lnSpc>
              <a:buFont typeface="Arial"/>
              <a:buChar char="•"/>
            </a:pPr>
            <a:r>
              <a:rPr lang="en-US" sz="2100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Allows dynamic behavior change at runtime</a:t>
            </a:r>
          </a:p>
          <a:p>
            <a:pPr marL="453393" lvl="1" indent="-226697" algn="l">
              <a:lnSpc>
                <a:spcPts val="2940"/>
              </a:lnSpc>
              <a:buFont typeface="Arial"/>
              <a:buChar char="•"/>
            </a:pPr>
            <a:r>
              <a:rPr lang="en-US" sz="2100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Makes the system easily extensible</a:t>
            </a:r>
          </a:p>
          <a:p>
            <a:pPr marL="453393" lvl="1" indent="-226697" algn="l">
              <a:lnSpc>
                <a:spcPts val="2940"/>
              </a:lnSpc>
              <a:buFont typeface="Arial"/>
              <a:buChar char="•"/>
            </a:pPr>
            <a:r>
              <a:rPr lang="en-US" sz="2100" spc="-73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Improves separation of concerns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19979" y="3313257"/>
            <a:ext cx="2144800" cy="948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 b="1" spc="-126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Design Strategy</a:t>
            </a:r>
          </a:p>
        </p:txBody>
      </p:sp>
      <p:sp>
        <p:nvSpPr>
          <p:cNvPr id="6" name="Freeform 6"/>
          <p:cNvSpPr/>
          <p:nvPr/>
        </p:nvSpPr>
        <p:spPr>
          <a:xfrm rot="-10800000">
            <a:off x="1197648" y="4519068"/>
            <a:ext cx="1998184" cy="624432"/>
          </a:xfrm>
          <a:custGeom>
            <a:avLst/>
            <a:gdLst/>
            <a:ahLst/>
            <a:cxnLst/>
            <a:rect l="l" t="t" r="r" b="b"/>
            <a:pathLst>
              <a:path w="1998184" h="624432">
                <a:moveTo>
                  <a:pt x="0" y="0"/>
                </a:moveTo>
                <a:lnTo>
                  <a:pt x="1998183" y="0"/>
                </a:lnTo>
                <a:lnTo>
                  <a:pt x="1998183" y="624432"/>
                </a:lnTo>
                <a:lnTo>
                  <a:pt x="0" y="624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7545132"/>
            <a:ext cx="2336079" cy="948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 b="1" spc="-126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Why this Strategy</a:t>
            </a:r>
          </a:p>
        </p:txBody>
      </p:sp>
      <p:sp>
        <p:nvSpPr>
          <p:cNvPr id="8" name="Freeform 8"/>
          <p:cNvSpPr/>
          <p:nvPr/>
        </p:nvSpPr>
        <p:spPr>
          <a:xfrm rot="-10800000">
            <a:off x="1197648" y="8522370"/>
            <a:ext cx="1998184" cy="624432"/>
          </a:xfrm>
          <a:custGeom>
            <a:avLst/>
            <a:gdLst/>
            <a:ahLst/>
            <a:cxnLst/>
            <a:rect l="l" t="t" r="r" b="b"/>
            <a:pathLst>
              <a:path w="1998184" h="624432">
                <a:moveTo>
                  <a:pt x="0" y="0"/>
                </a:moveTo>
                <a:lnTo>
                  <a:pt x="1998183" y="0"/>
                </a:lnTo>
                <a:lnTo>
                  <a:pt x="1998183" y="624432"/>
                </a:lnTo>
                <a:lnTo>
                  <a:pt x="0" y="624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1828800" y="1480051"/>
            <a:ext cx="14630400" cy="8229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333879"/>
            <a:ext cx="16230600" cy="96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200" spc="-288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Demo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8169" y="3263552"/>
            <a:ext cx="11871663" cy="3759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28"/>
              </a:lnSpc>
            </a:pPr>
            <a:r>
              <a:rPr lang="en-US" sz="12357" spc="-432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Thank </a:t>
            </a:r>
          </a:p>
          <a:p>
            <a:pPr algn="ctr">
              <a:lnSpc>
                <a:spcPts val="14828"/>
              </a:lnSpc>
            </a:pPr>
            <a:r>
              <a:rPr lang="en-US" sz="12357" spc="-432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You</a:t>
            </a: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490</Words>
  <Application>Microsoft Office PowerPoint</Application>
  <PresentationFormat>Custom</PresentationFormat>
  <Paragraphs>110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Calibri</vt:lpstr>
      <vt:lpstr>Garet Bold</vt:lpstr>
      <vt:lpstr>Canva Sans Bold</vt:lpstr>
      <vt:lpstr>Canva Sans</vt:lpstr>
      <vt:lpstr>Garet</vt:lpstr>
      <vt:lpstr>Garet Ultra-Bold</vt:lpstr>
      <vt:lpstr>Garet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Study Planner using Strategy and Observer Pattern</dc:title>
  <cp:lastModifiedBy>Debjit Dey</cp:lastModifiedBy>
  <cp:revision>2</cp:revision>
  <dcterms:created xsi:type="dcterms:W3CDTF">2006-08-16T00:00:00Z</dcterms:created>
  <dcterms:modified xsi:type="dcterms:W3CDTF">2026-03-28T17:25:03Z</dcterms:modified>
  <dc:identifier>DAHFNQ9Em_Q</dc:identifier>
</cp:coreProperties>
</file>